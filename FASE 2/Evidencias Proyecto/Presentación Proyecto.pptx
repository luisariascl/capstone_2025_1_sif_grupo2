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73" r:id="rId11"/>
    <p:sldId id="266" r:id="rId12"/>
    <p:sldId id="267" r:id="rId13"/>
    <p:sldId id="270" r:id="rId14"/>
    <p:sldId id="271" r:id="rId15"/>
    <p:sldId id="272" r:id="rId16"/>
  </p:sldIdLst>
  <p:sldSz cx="12192000" cy="6858000"/>
  <p:notesSz cx="6858000" cy="9144000"/>
  <p:embeddedFontLst>
    <p:embeddedFont>
      <p:font typeface="Source Code Pro" panose="020B0509030403020204" pitchFamily="49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6" roundtripDataSignature="AMtx7mhcoNXIiHk556Pz2dPBDXWYe9of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54" autoAdjust="0"/>
  </p:normalViewPr>
  <p:slideViewPr>
    <p:cSldViewPr snapToGrid="0">
      <p:cViewPr varScale="1">
        <p:scale>
          <a:sx n="105" d="100"/>
          <a:sy n="105" d="100"/>
        </p:scale>
        <p:origin x="24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>
          <a:extLst>
            <a:ext uri="{FF2B5EF4-FFF2-40B4-BE49-F238E27FC236}">
              <a16:creationId xmlns:a16="http://schemas.microsoft.com/office/drawing/2014/main" id="{36905A73-CE0F-5C05-3299-CFE4DA2B5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:notes">
            <a:extLst>
              <a:ext uri="{FF2B5EF4-FFF2-40B4-BE49-F238E27FC236}">
                <a16:creationId xmlns:a16="http://schemas.microsoft.com/office/drawing/2014/main" id="{39F4823A-4D1C-986C-7C72-D72CDFE0DC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9:notes">
            <a:extLst>
              <a:ext uri="{FF2B5EF4-FFF2-40B4-BE49-F238E27FC236}">
                <a16:creationId xmlns:a16="http://schemas.microsoft.com/office/drawing/2014/main" id="{662EFD71-C6F1-EA66-EF0B-9FEF9A6D86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95159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 CAPSTONE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MX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Matías Bello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MX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Diseñador y  QA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MX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MX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Pedro San </a:t>
              </a:r>
              <a:r>
                <a:rPr lang="es-MX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Martín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MX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Líder técnico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MX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Analista de requerimientos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MX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Luis Fernando Arias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MX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Jefe de proyecto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MX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Arquitecto de software y Desarrollador.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b="0" i="0" u="none" strike="noStrike" cap="non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</a:t>
            </a:r>
            <a:endParaRPr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falta  visibilidad, control y eficiencia operativa en la gestión de vehículos y recursos logísticos.</a:t>
            </a:r>
            <a:endParaRPr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</a:t>
            </a:r>
            <a:endParaRPr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Nuestra solución es el </a:t>
            </a:r>
            <a:r>
              <a:rPr lang="es-MX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Sistema Integral de Flotas (SIF)</a:t>
            </a:r>
            <a:r>
              <a:rPr lang="es-MX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una plataforma tecnológica única y centralizada que devuelve el control total de la operación a los gestores de flota.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3759280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-Desarrollar un sistema de gestión de flotas para vehículos terrestres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4" y="4514674"/>
            <a:ext cx="10962968" cy="2135776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85% de los conductores y administradores estarán capacitados y serán capaces de usar el sistema en las </a:t>
            </a:r>
            <a:r>
              <a:rPr lang="es-MX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primeras 13 semanas.</a:t>
            </a:r>
            <a:endParaRPr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Conseguir que el 95% de los activos involucrados en el software estén registrados en el sistema en las primeras </a:t>
            </a:r>
            <a:r>
              <a:rPr lang="es-MX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  semanas.</a:t>
            </a:r>
            <a:endParaRPr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Disminuir en un 20% el tiempo de inactividad de la flota dentro de los </a:t>
            </a:r>
            <a:r>
              <a:rPr lang="es-MX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primeros nueve meses del proyecto</a:t>
            </a: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asegurando una mayor disponibilidad operativa de los vehículos.</a:t>
            </a:r>
            <a:endParaRPr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4" name="Google Shape;134;p5"/>
          <p:cNvSpPr txBox="1"/>
          <p:nvPr/>
        </p:nvSpPr>
        <p:spPr>
          <a:xfrm>
            <a:off x="5597372" y="2067915"/>
            <a:ext cx="6730815" cy="358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br>
              <a:rPr lang="es-MX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s-MX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 b="0" i="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-MX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Limitaciones</a:t>
            </a:r>
            <a:r>
              <a:rPr lang="es-MX" sz="1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s-MX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se incluye un módulo de gestión de inventario de repuestos para el taller.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s-MX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se realiza optimización automática de rutas (cálculo de la ruta más eficiente).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s-MX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incluye módulos financieros o contables (facturación, etc.).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s-MX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se integra con sistemas ERP de terceros en esta versión.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s-MX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s-MX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5"/>
          <p:cNvSpPr txBox="1"/>
          <p:nvPr/>
        </p:nvSpPr>
        <p:spPr>
          <a:xfrm>
            <a:off x="236631" y="3171929"/>
            <a:ext cx="5078880" cy="24929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s-MX" sz="1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Módulo Central de Mantenimiento</a:t>
            </a:r>
            <a:r>
              <a:rPr lang="es-MX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: Sistema avanzado para la Planificación Preventiva y gestión de Órdenes de Trabajo (OT) digitales.</a:t>
            </a:r>
            <a:endParaRPr/>
          </a:p>
          <a:p>
            <a:pPr marL="171450" marR="0" lvl="0" indent="-171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s-MX" sz="1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Módulo de Monitoreo y Operaciones</a:t>
            </a:r>
            <a:r>
              <a:rPr lang="es-MX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: Asignación de recorridos y mapa de seguimiento en tiempo real como soporte a la gestión.</a:t>
            </a:r>
            <a:endParaRPr/>
          </a:p>
          <a:p>
            <a:pPr marL="171450" marR="0" lvl="0" indent="-171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s-MX" sz="1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Módulo de Gestión de Activos</a:t>
            </a:r>
            <a:r>
              <a:rPr lang="es-MX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: CRUD completo para Vehículos, Rutas y Usuarios.</a:t>
            </a:r>
            <a:endParaRPr/>
          </a:p>
          <a:p>
            <a:pPr marL="171450" marR="0" lvl="0" indent="-171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s-MX" sz="1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Módulo de Reportes de Campo</a:t>
            </a:r>
            <a:r>
              <a:rPr lang="es-MX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: Registro de combustible y siniestros a través de vistas móviles dedicadas.</a:t>
            </a:r>
            <a:endParaRPr/>
          </a:p>
        </p:txBody>
      </p:sp>
      <p:sp>
        <p:nvSpPr>
          <p:cNvPr id="136" name="Google Shape;136;p5"/>
          <p:cNvSpPr txBox="1"/>
          <p:nvPr/>
        </p:nvSpPr>
        <p:spPr>
          <a:xfrm>
            <a:off x="1926637" y="2588715"/>
            <a:ext cx="616403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</a:t>
            </a: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6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5" name="Google Shape;145;p6"/>
          <p:cNvSpPr txBox="1"/>
          <p:nvPr/>
        </p:nvSpPr>
        <p:spPr>
          <a:xfrm>
            <a:off x="753979" y="2753613"/>
            <a:ext cx="10635916" cy="3016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MX" sz="2000" b="0" i="0" u="none" strike="noStrike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¿Qué es la metodología en cascada?</a:t>
            </a:r>
            <a:endParaRPr/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0" b="0" i="0" u="none" strike="noStrike">
              <a:solidFill>
                <a:schemeClr val="dk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  <a:p>
            <a:pPr marL="342900" marR="0" lvl="0" indent="-3429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MX" sz="2000" b="0" i="0" u="none" strike="noStrike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Por qué elegimos una metodología tradicional en cascada?</a:t>
            </a:r>
            <a:endParaRPr/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0" b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MX" sz="2000" b="0" i="0" u="none" strike="noStrike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¿Cuáles son las ventajas de la metodología en cascada sobre otras metodologías?</a:t>
            </a:r>
            <a:endParaRPr/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0" b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6" descr="Metodología Waterfall | Cómo aplicar la gestión de proyectos en cascada"/>
          <p:cNvPicPr preferRelativeResize="0"/>
          <p:nvPr/>
        </p:nvPicPr>
        <p:blipFill rotWithShape="1">
          <a:blip r:embed="rId4">
            <a:alphaModFix/>
          </a:blip>
          <a:srcRect l="54465" t="17574" r="4793" b="61116"/>
          <a:stretch/>
        </p:blipFill>
        <p:spPr>
          <a:xfrm>
            <a:off x="7063972" y="5284865"/>
            <a:ext cx="4678136" cy="14614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6" descr="Gráfico de cascada - Iconos gratis de negocios y finanzas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555273" y="6023378"/>
            <a:ext cx="834622" cy="8346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7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7"/>
          <p:cNvSpPr txBox="1"/>
          <p:nvPr/>
        </p:nvSpPr>
        <p:spPr>
          <a:xfrm>
            <a:off x="0" y="-46274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 dirty="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 txBox="1"/>
          <p:nvPr/>
        </p:nvSpPr>
        <p:spPr>
          <a:xfrm>
            <a:off x="-1849144" y="207550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 Utilizar cronograma de inicio, indicando el cumplimiento al término del proyecto </a:t>
            </a:r>
            <a:endParaRPr sz="1000" dirty="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5" name="Google Shape;155;p7"/>
          <p:cNvCxnSpPr/>
          <p:nvPr/>
        </p:nvCxnSpPr>
        <p:spPr>
          <a:xfrm>
            <a:off x="0" y="277514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5E8CD905-9F40-A8B4-DBEA-1E65FC3001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270" y="1170066"/>
            <a:ext cx="7256267" cy="483156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B6EC4C6-C35C-A100-DC69-F1C5888D1C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270" y="6001635"/>
            <a:ext cx="7256267" cy="42862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8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 txBox="1"/>
          <p:nvPr/>
        </p:nvSpPr>
        <p:spPr>
          <a:xfrm>
            <a:off x="-278441" y="992902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Arquitectura 4 + 1</a:t>
            </a:r>
            <a:endParaRPr/>
          </a:p>
        </p:txBody>
      </p:sp>
      <p:cxnSp>
        <p:nvCxnSpPr>
          <p:cNvPr id="164" name="Google Shape;164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65" name="Google Shape;165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94113" y="2109090"/>
            <a:ext cx="5676157" cy="4544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9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9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 txBox="1"/>
          <p:nvPr/>
        </p:nvSpPr>
        <p:spPr>
          <a:xfrm>
            <a:off x="0" y="7778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/>
          </a:p>
        </p:txBody>
      </p:sp>
      <p:cxnSp>
        <p:nvCxnSpPr>
          <p:cNvPr id="182" name="Google Shape;182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" name="Imagen 8" descr="Diagrama&#10;&#10;El contenido generado por IA puede ser incorrecto.">
            <a:extLst>
              <a:ext uri="{FF2B5EF4-FFF2-40B4-BE49-F238E27FC236}">
                <a16:creationId xmlns:a16="http://schemas.microsoft.com/office/drawing/2014/main" id="{066EA5B8-E919-BA0F-D704-0D6EBFDB1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82001"/>
            <a:ext cx="11913558" cy="5117192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>
          <a:extLst>
            <a:ext uri="{FF2B5EF4-FFF2-40B4-BE49-F238E27FC236}">
              <a16:creationId xmlns:a16="http://schemas.microsoft.com/office/drawing/2014/main" id="{4BA8B4A6-4A85-EA0A-D4A6-CE2F99101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9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053C8830-15F5-FC13-6275-3D586D3BDD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9">
            <a:extLst>
              <a:ext uri="{FF2B5EF4-FFF2-40B4-BE49-F238E27FC236}">
                <a16:creationId xmlns:a16="http://schemas.microsoft.com/office/drawing/2014/main" id="{C23CAD70-CE9F-F257-4BC6-569B8C2EF0C6}"/>
              </a:ext>
            </a:extLst>
          </p:cNvPr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>
            <a:extLst>
              <a:ext uri="{FF2B5EF4-FFF2-40B4-BE49-F238E27FC236}">
                <a16:creationId xmlns:a16="http://schemas.microsoft.com/office/drawing/2014/main" id="{7BC33F0A-1166-9FFB-A890-1DE7108A5FFC}"/>
              </a:ext>
            </a:extLst>
          </p:cNvPr>
          <p:cNvSpPr txBox="1"/>
          <p:nvPr/>
        </p:nvSpPr>
        <p:spPr>
          <a:xfrm>
            <a:off x="0" y="7778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/>
          </a:p>
        </p:txBody>
      </p:sp>
      <p:cxnSp>
        <p:nvCxnSpPr>
          <p:cNvPr id="182" name="Google Shape;182;p9">
            <a:extLst>
              <a:ext uri="{FF2B5EF4-FFF2-40B4-BE49-F238E27FC236}">
                <a16:creationId xmlns:a16="http://schemas.microsoft.com/office/drawing/2014/main" id="{C0C1E4F6-A61E-9DC2-F30C-143B33BB47AF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85878431-3682-1D02-C16D-297D54948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539" y="1444082"/>
            <a:ext cx="11346511" cy="4873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595255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0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0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191" name="Google Shape;191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92" name="Google Shape;192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1841" y="1860926"/>
            <a:ext cx="4628146" cy="46281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30202" y="2303617"/>
            <a:ext cx="5429957" cy="41854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5EF17487-C386-4F99-B5EB-4FD3DF423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Freeform: Shape 1034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199" name="Google Shape;199;p11"/>
          <p:cNvSpPr txBox="1"/>
          <p:nvPr/>
        </p:nvSpPr>
        <p:spPr>
          <a:xfrm>
            <a:off x="1246824" y="643467"/>
            <a:ext cx="4772975" cy="1800526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marR="0" lv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Calibri"/>
              </a:rPr>
              <a:t>Resultados obtenidos</a:t>
            </a:r>
            <a:endParaRPr lang="en-US" sz="4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02" name="Google Shape;202;p11"/>
          <p:cNvSpPr txBox="1"/>
          <p:nvPr/>
        </p:nvSpPr>
        <p:spPr>
          <a:xfrm>
            <a:off x="1246824" y="2623381"/>
            <a:ext cx="4772974" cy="3553581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0" lvl="0" indent="-2286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Calibri"/>
              </a:rPr>
              <a:t>PROYECTO “SISTEMA INTEGRAL DE FLOTA”</a:t>
            </a:r>
            <a:endParaRPr lang="en-US" sz="20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-2286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kern="1200">
              <a:solidFill>
                <a:schemeClr val="tx1"/>
              </a:solidFill>
              <a:latin typeface="+mn-lt"/>
              <a:ea typeface="+mn-ea"/>
              <a:cs typeface="+mn-cs"/>
              <a:sym typeface="Calibri"/>
            </a:endParaRPr>
          </a:p>
        </p:txBody>
      </p:sp>
      <p:pic>
        <p:nvPicPr>
          <p:cNvPr id="198" name="Google Shape;198;p11" descr="EscuelaIT Duoc UC - Escuela de Informática y Telecomunicaciones Duoc UC - Duoc  UC | LinkedIn"/>
          <p:cNvPicPr preferRelativeResize="0"/>
          <p:nvPr/>
        </p:nvPicPr>
        <p:blipFill rotWithShape="1">
          <a:blip r:embed="rId3"/>
          <a:stretch/>
        </p:blipFill>
        <p:spPr>
          <a:xfrm>
            <a:off x="8071403" y="133850"/>
            <a:ext cx="3848322" cy="962080"/>
          </a:xfrm>
          <a:prstGeom prst="rect">
            <a:avLst/>
          </a:prstGeom>
          <a:noFill/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F17FA2E3-8290-1A0C-3F18-8BBFF7DE4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4873" y="2304377"/>
            <a:ext cx="4191587" cy="4191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1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3"/>
          <p:cNvSpPr txBox="1"/>
          <p:nvPr/>
        </p:nvSpPr>
        <p:spPr>
          <a:xfrm>
            <a:off x="1" y="1015428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 dirty="0"/>
          </a:p>
        </p:txBody>
      </p:sp>
      <p:sp>
        <p:nvSpPr>
          <p:cNvPr id="226" name="Google Shape;226;p13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24;p13">
            <a:extLst>
              <a:ext uri="{FF2B5EF4-FFF2-40B4-BE49-F238E27FC236}">
                <a16:creationId xmlns:a16="http://schemas.microsoft.com/office/drawing/2014/main" id="{B5CC40A9-BAF4-75FB-6097-6D4F062EE0F1}"/>
              </a:ext>
            </a:extLst>
          </p:cNvPr>
          <p:cNvSpPr txBox="1"/>
          <p:nvPr/>
        </p:nvSpPr>
        <p:spPr>
          <a:xfrm>
            <a:off x="136188" y="1784869"/>
            <a:ext cx="4857070" cy="172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MX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Capacitarse para la programación</a:t>
            </a:r>
            <a:r>
              <a:rPr lang="es-MX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</a:p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endParaRPr dirty="0"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Hubo que estudiar e investigar las tecnologías para saber sobre su uso de buena forma y esto implicó usar una cantidad de tiempo considerable del proyecto para estudiarlas bien.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224;p13">
            <a:extLst>
              <a:ext uri="{FF2B5EF4-FFF2-40B4-BE49-F238E27FC236}">
                <a16:creationId xmlns:a16="http://schemas.microsoft.com/office/drawing/2014/main" id="{A9CBBDB9-37FE-E588-F724-C1B14953B5F7}"/>
              </a:ext>
            </a:extLst>
          </p:cNvPr>
          <p:cNvSpPr txBox="1"/>
          <p:nvPr/>
        </p:nvSpPr>
        <p:spPr>
          <a:xfrm>
            <a:off x="136188" y="3553650"/>
            <a:ext cx="4857070" cy="1231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419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Falta de datos reales:</a:t>
            </a:r>
            <a:endParaRPr dirty="0"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Utilización una simulación con datos de prueba no representativos (recorrido por ejemplo).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224;p13">
            <a:extLst>
              <a:ext uri="{FF2B5EF4-FFF2-40B4-BE49-F238E27FC236}">
                <a16:creationId xmlns:a16="http://schemas.microsoft.com/office/drawing/2014/main" id="{FE0CC4FD-BF3C-C1C4-7146-B3451674C2FC}"/>
              </a:ext>
            </a:extLst>
          </p:cNvPr>
          <p:cNvSpPr txBox="1"/>
          <p:nvPr/>
        </p:nvSpPr>
        <p:spPr>
          <a:xfrm>
            <a:off x="6096000" y="1784869"/>
            <a:ext cx="5689831" cy="150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419" sz="2000" b="1" dirty="0">
                <a:solidFill>
                  <a:schemeClr val="dk1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/>
              </a:rPr>
              <a:t>Integración de módulos: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lvl="0" algn="just"/>
            <a:r>
              <a:rPr lang="es-ES" sz="1800" dirty="0">
                <a:latin typeface="Calibri" panose="020F0502020204030204" pitchFamily="34" charset="0"/>
                <a:cs typeface="Calibri" panose="020F0502020204030204" pitchFamily="34" charset="0"/>
              </a:rPr>
              <a:t>Como mantenimiento, ubicación, choferes y vehículos. Al Integrar estos módulos en un solo sistema funcional es complejo, especialmente si se desarrollan por separado.</a:t>
            </a: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6" name="Google Shape;224;p13">
            <a:extLst>
              <a:ext uri="{FF2B5EF4-FFF2-40B4-BE49-F238E27FC236}">
                <a16:creationId xmlns:a16="http://schemas.microsoft.com/office/drawing/2014/main" id="{C8DBA3BA-9850-EB47-9B7F-A323F7E44DC7}"/>
              </a:ext>
            </a:extLst>
          </p:cNvPr>
          <p:cNvSpPr txBox="1"/>
          <p:nvPr/>
        </p:nvSpPr>
        <p:spPr>
          <a:xfrm>
            <a:off x="136188" y="4981007"/>
            <a:ext cx="5689831" cy="150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419" sz="2000" b="1" dirty="0">
                <a:solidFill>
                  <a:schemeClr val="dk1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/>
              </a:rPr>
              <a:t>Sobrecarga de funcionalidades: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lvl="0" algn="just"/>
            <a:r>
              <a:rPr lang="es-ES" sz="1800" dirty="0">
                <a:latin typeface="Calibri" panose="020F0502020204030204" pitchFamily="34" charset="0"/>
                <a:cs typeface="Calibri" panose="020F0502020204030204" pitchFamily="34" charset="0"/>
              </a:rPr>
              <a:t>La cantidad de funcionalidades que quisimos abarcar puede sobrecargar el proyecto y dificultar el cumplimiento del alcance dentro del tiempo disponible</a:t>
            </a: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7" name="Google Shape;224;p13">
            <a:extLst>
              <a:ext uri="{FF2B5EF4-FFF2-40B4-BE49-F238E27FC236}">
                <a16:creationId xmlns:a16="http://schemas.microsoft.com/office/drawing/2014/main" id="{E6D1E49F-E62B-E86D-E29F-A4C1B7BFD172}"/>
              </a:ext>
            </a:extLst>
          </p:cNvPr>
          <p:cNvSpPr txBox="1"/>
          <p:nvPr/>
        </p:nvSpPr>
        <p:spPr>
          <a:xfrm>
            <a:off x="6096000" y="3292934"/>
            <a:ext cx="5689831" cy="1231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419" sz="2000" b="1" dirty="0">
                <a:solidFill>
                  <a:schemeClr val="dk1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/>
              </a:rPr>
              <a:t>Dependencia de tecnologías externas inestables: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lvl="0" algn="just"/>
            <a:r>
              <a:rPr lang="es-ES" sz="1800" dirty="0">
                <a:latin typeface="Calibri" panose="020F0502020204030204" pitchFamily="34" charset="0"/>
                <a:cs typeface="Calibri" panose="020F0502020204030204" pitchFamily="34" charset="0"/>
              </a:rPr>
              <a:t>Si cambian sus políticas, se caen o empiezan a cobrar por el uso, afectando el sistema repentinamente.</a:t>
            </a: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8" name="Google Shape;224;p13">
            <a:extLst>
              <a:ext uri="{FF2B5EF4-FFF2-40B4-BE49-F238E27FC236}">
                <a16:creationId xmlns:a16="http://schemas.microsoft.com/office/drawing/2014/main" id="{74D3EC78-B66D-A0FB-880D-D8C2762DA65A}"/>
              </a:ext>
            </a:extLst>
          </p:cNvPr>
          <p:cNvSpPr txBox="1"/>
          <p:nvPr/>
        </p:nvSpPr>
        <p:spPr>
          <a:xfrm>
            <a:off x="6096000" y="4611506"/>
            <a:ext cx="5689831" cy="1231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419" sz="2000" b="1" dirty="0">
                <a:solidFill>
                  <a:schemeClr val="dk1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/>
              </a:rPr>
              <a:t>Desalineación con criterios: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lvl="0" algn="just"/>
            <a:r>
              <a:rPr lang="es-ES" sz="1800" dirty="0">
                <a:latin typeface="Calibri" panose="020F0502020204030204" pitchFamily="34" charset="0"/>
                <a:cs typeface="Calibri" panose="020F0502020204030204" pitchFamily="34" charset="0"/>
              </a:rPr>
              <a:t>Hubo enfoque mas en objetivos técnicos, a veces quitando perspectiva en los requerimientos de la asignatura.</a:t>
            </a: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1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4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*Exposición del sistema</a:t>
            </a:r>
            <a:endParaRPr sz="24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4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1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5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/>
          </a:p>
        </p:txBody>
      </p:sp>
      <p:sp>
        <p:nvSpPr>
          <p:cNvPr id="240" name="Google Shape;240;p15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680</Words>
  <Application>Microsoft Office PowerPoint</Application>
  <PresentationFormat>Panorámica</PresentationFormat>
  <Paragraphs>96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Source Code Pro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Gogeta Sensei12</cp:lastModifiedBy>
  <cp:revision>3</cp:revision>
  <dcterms:created xsi:type="dcterms:W3CDTF">2023-10-28T21:12:11Z</dcterms:created>
  <dcterms:modified xsi:type="dcterms:W3CDTF">2025-07-09T07:36:45Z</dcterms:modified>
</cp:coreProperties>
</file>